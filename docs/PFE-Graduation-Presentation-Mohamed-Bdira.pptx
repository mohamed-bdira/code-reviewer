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and thank you for being here today. My name is Mohamed Bdira, and I will present my graduation project entitled Automated Code Governance and Pull Request Review System. This work was carried out at iMaxeam under the academic supervision of Mrs. Noura Aboudi and the professional supervision of Mr. Mehdi Mili, as part of the Software Engineering and Information Systems program at Horizon School of Digital Technologies.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presentation follows the structure of my report. We will begin with the host company, then the context and problem statement, a review of existing solutions, and our proposed platform. After that, I will cover the Agile Scrum methodology, functional and non-functional requirements, system architecture, a live demo walkthrough, and finally conclusions with future perspectives.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start with the professional context of this project.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iMaxeam is a prominent IT services and software publishing firm, recognized as an official IBM Gold Business Partner. The company specializes in Enterprise Asset Management, with deep expertise in IBM Maximo integrations, maintenance, and technical architecture optimization. iMaxeam serves asset-intensive industries such as manufacturing, utilities, transportation, and oil and gas. This internship gave me exposure to professional software engineering practices in a real enterprise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review is fundamentally about human understanding. Even with modern CI/CD pipelines automating builds, tests, and linting, the review phase itself remains largely manual. That gap is what this project addresses.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critical challenges motivated this work. First, senior engineers spend substantial time on repetitive review tasks — style enforcement, trivial syntax fixes, and pattern checking — reducing time for high-value work like system design. Second, pull requests often contain dozens of files and hundreds of lines. Under deadline pressure, reviewer fatigue increases the likelihood that bugs, security vulnerabilities, and technical debt go unnoticed. Third, human reviews reflect individual preferences, leading to inconsistent enforcement of best practices and architectural drift across teams.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studied two dominant archetypes. SonarQube is the industry standard for static analysis. It is highly optimized and deterministic, excellent at syntax compliance and complexity thresholds. However, it lacks semantic awareness — it reads code as structural tokens, not logical intent — and produces high volumes of false positives. CodeRabbit represents the modern LLM-driven approach. It understands context and intent, summarizes complex changes, and engages developers in PR conversations. But it operates as a closed-source black-box SaaS with per-seat costs and limited ability to combine custom AST rules with AI prompts on a per-repository basis.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evaluation reveals a distinct architectural gap. SonarQube provides rigid, deterministic structure without context. CodeRabbit provides flexible context without granular, deterministic control. Our platform fills this gap with a hybrid architecture combining ast-grep structural analysis, Google Gemini semantic reasoning, and a React dashboard for per-repository policy configuration.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platform is a full-stack, event-driven middleware layer that bridges GitHub with advanced Large Language Models. When a pull request is opened or updated, the system receives a webhook, performs hybrid analysis combining deterministic AST parsing with generative semantic reasoning, persists structured findings in MongoDB, and optionally publishes inline review comments back to GitHub. Operators manage installations, repository policies, and findings through a centralized React dashboard.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pillars define our solution. First, hybrid analysis combines ast-grep for deterministic structural checks with Google Gemini for semantic reasoning. Second, per-repository configuration lets team leads define focus areas, enforcement levels, custom rules, and merge score thresholds via RepoConfig. Third, deep GitHub integration through a registered GitHub App with OAuth authentication, signed webhooks, and installation-scoped tokens. Fourth, a real-time dashboard using Server-Sent Events so operators see findings and status updates without manual page reloads.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Some key metrics from our implementation and evaluation. The platform uses five MongoDB collections for users, installations, repository configs, API keys, and review findings. The dashboard exposes seven operational panels. Development followed four Agile Scrum sprints from preparation through deployment. In production evaluation, the end-to-end review pipeline achieved a mean latency of 1.48 seconds, well under our 2.5-second threshold.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used Agile Scrum because the platform combines several evolving components — GitHub webhook integration, AI-assisted analysis, database persistence, and a React dashboard. Instead of a rigid sequential process, we organized work into a product backlog and delivered incrementally across four sprints: Sprint 0 for preparation and requirements, Sprint 1 for backend architecture, Sprint 2 for the AI engine, Sprint 3 for the frontend, and Sprint 4 for deployment and validation. Sprint reviews let us refine LLM response formatting, token limitations, and diff processing early.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primary actors interact with the system. The Developer authenticates via GitHub OAuth, links GitHub App installations, configures repository review policies, and opens or synchronizes pull requests. GitHub acts as an external system delivering webhooks, handling OAuth, and serving REST APIs for diffs and review posting. Google Gemini serves as the AI engine, receiving curated diffs and returning structured review findings.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functional requirements include: GitHub OAuth sign-in with JWT sessions; linking GitHub App installations to operator accounts; CRUD operations on per-repository RepoConfig policies; automated review triggered on pull_request opened and synchronize events; persisting structured findings with deduplication; exposing findings through filterable dashboard APIs; Server-Sent Events for real-time UI updates; and API key lifecycle management for dashboard access and optional review gating.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Non-functional requirements span four areas. Security includes HMAC-SHA256 webhook validation, JWT sessions, bcrypt-hashed API keys, and single-origin CORS. Performance covers adaptive diff segmentation for large PRs, retry logic for Gemini rate limits, and conservative GitHub posting to avoid secondary rate limits. Reliability means immediate HTTP 200 webhook acknowledgment, finding deduplication via dedupeKey, and MongoDB index enforcement. Usability focuses on a responsive Tailwind CSS dashboard with real-time SSE updates and clear operator workflows.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architecture follows an event-driven model. GitHub sends pull request webhook events to the Express backend on Railway. The backend validates signatures, resolves tenant context via Installation and RepoConfig, fetches and filters diffs, invokes the Gemini SDK for analysis, persists findings in MongoDB Atlas, and optionally posts review feedback to GitHub. The React SPA on Vercel consumes REST APIs and SSE event streams for monitoring and configuration. This decoupled split keeps the UI fast on a CDN while the API stays always-on for webhooks and background processing.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 model centers on five MongoDB entities. User stores operator identity from GitHub OAuth. Installation links a user to a GitHub App installation ID. RepoConfig holds per-repository review policy — focus areas, enforcement level, custom rules, merge minimum score, and ast-grep flag. ApiKey stores bcrypt-hashed credentials for dashboard access. PrReviewFinding captures AI-detected issues with category, file path, line range, and dedupe key. The ReviewPullRequest service orchestrates diff fetching, segmentation, Gemini invocation, enforcer parsing, and GitHub posting.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sequence diagram shows the core business flow. GitHub delivers a pull_request webhook. Express verifies the HMAC signature, loads Installation and RepoConfig, and immediately returns HTTP 200. Then reviewPullRequest fetches the diff via Octokit, filters and segments it, runs ast-grep if enabled, calls Gemini through the official SDK, parses the structured JSON response via the enforcer, upserts findings into MongoDB, posts a GitHub review if appropriate, and publishes an SSE event so the dashboard refreshes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technology stack is organized by operational layer. The frontend is a React 19 single-page application built with Vite and styled with Tailwind CSS, deployed on Vercel. The backend runs Node.js 22 with Express 5 and TypeScript, containerized and hosted on Railway. MongoDB Atlas provides document-oriented persistence through Mongoose ODM. Google Gemini SDK powers semantic analysis with structured JSON output. GitHub integration uses Octokit for App authentication and API calls. Git manages versioning, and CI/CD automates deployment to both hosting platforms.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review pipeline has six phases. First, GitHub PR events trigger webhook ingress with cryptographic validation. Second, the orchestrator fetches the unified diff, strips lockfiles and binaries, and segments large patches. Third, ast-grep runs optional structural pattern matching. Fourth, Gemini analyzes semantic intent with repository policy injected into the prompt. Fifth, the enforcer validates JSON output, computes merge readiness scores, and upserts findings. Sixth, Octokit publishes inline comments and review summaries back to the PR thread.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follows a defense-in-depth approach. Every webhook payload is verified with HMAC-SHA256 using a shared secret and timing-safe comparison. GitHub App RSA private keys are injected via environment variables and kept in volatile memory only. Installation access tokens are short-lived with a 60-minute TTL, requested on demand. Operator API keys are bcrypt-hashed with cost factor 12 and never stored in plaintext. CORS restricts API access to the configured frontend origin.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demo, the operator starts at the login page and signs in with GitHub OAuth. After authentication, they navigate to the GitHub and CI panel to link a GitHub App installation. The platform validates ownership via Octokit and stores the installation binding. From there, the operator selects repositories and creates RepoConfig entries with focus areas, enforcement level, custom rules, and optional ast-grep enablement.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 developer opens or updates a pull request on a configured repository, the webhook triggers automated review. Within about 1.5 seconds, findings appear in the dashboard Findings panel via SSE without manual reload. The operator can filter by repository, category, or severity. Simultaneously, inline review comments may appear on the GitHub PR thread. The Overview panel shows aggregated statistics — total findings, category distribution, and service health.</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Production uses a split deployment. The React SPA builds with Vite and deploys to Vercel for global CDN delivery and HTTPS. The Express API runs in a Docker container on Railway, staying always-on for webhooks, SSE connections, scheduled scans, and Gemini API calls. MongoDB Atlas hosts the database. Environment variables manage secrets — JWT secret, GitHub App key, webhook secret, Gemini API key, and MongoDB URI. CI/CD triggers automatic rebuilds on push to main for both platforms.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this project addressed the bottleneck of manual code review in modern CI/CD pipelines. We designed and implemented a hybrid platform combining ast-grep structural analysis with Google Gemini semantic reasoning, integrated natively into GitHub workflows. The result is a production-ready full-stack application with a React dashboard, Express backend, MongoDB persistence, and split cloud deployment. The platform delivers near-instant feedback on pull requests while keeping human reviewers in control of merge decisions.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Future work spans three horizons. In the short term, integrating a distributed message queue like Redis or RabbitMQ will isolate webhook ingestion from analysis execution during high-concurrency bursts. In the medium term, local vector filtering can reduce unnecessary Gemini API calls for cosmetic changes, and extended AST compilation will further reduce hallucinations. In the long term, configurable multi-model support per repository — Gemini, GPT, or open-source models — and a fully containerized on-premise deployment blueprint will serve organizations with strict data privacy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your attention. I am happy to answer any questions about the architecture, the AI integration, the GitHub workflow, or the evaluation results. Thank you to my supervisors Mrs. Noura Aboudi and Mr. Mehdi Mili, the iMaxeam team, and the jury members for their time and feedback.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Automated Code Governance</a:t>
            </a:r>
          </a:p>
          <a:p>
            <a:r>
              <a:t>and Pull Request Review System</a:t>
            </a:r>
          </a:p>
        </p:txBody>
      </p:sp>
      <p:sp>
        <p:nvSpPr>
          <p:cNvPr id="3" name="Subtitle 2"/>
          <p:cNvSpPr>
            <a:spLocks noGrp="1"/>
          </p:cNvSpPr>
          <p:nvPr>
            <p:ph type="subTitle" idx="1"/>
          </p:nvPr>
        </p:nvSpPr>
        <p:spPr/>
        <p:txBody>
          <a:bodyPr/>
          <a:lstStyle/>
          <a:p>
            <a:r>
              <a:t>Presented in order to obtain the National Bachelor's Degree in Computer Science</a:t>
            </a:r>
          </a:p>
          <a:p/>
          <a:p>
            <a:r>
              <a:t>Presented By: Mohamed Bdira</a:t>
            </a:r>
          </a:p>
          <a:p>
            <a:r>
              <a:t>Academic Supervisor: Ms. Noura Aboudi  |  Professional Supervisor: Mr. Mehdi Mili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Table of Contents</a:t>
            </a:r>
          </a:p>
        </p:txBody>
      </p:sp>
      <p:sp>
        <p:nvSpPr>
          <p:cNvPr id="3" name="Content Placeholder 2"/>
          <p:cNvSpPr>
            <a:spLocks noGrp="1"/>
          </p:cNvSpPr>
          <p:nvPr>
            <p:ph idx="1"/>
          </p:nvPr>
        </p:nvSpPr>
        <p:spPr/>
        <p:txBody>
          <a:bodyPr/>
          <a:lstStyle/>
          <a:p>
            <a:pPr/>
            <a:r>
              <a:rPr sz="1600"/>
              <a:t>01  Host Company</a:t>
            </a:r>
          </a:p>
          <a:p>
            <a:pPr/>
            <a:r>
              <a:rPr sz="1600"/>
              <a:t>02  Context &amp; Problem</a:t>
            </a:r>
          </a:p>
          <a:p>
            <a:pPr/>
            <a:r>
              <a:rPr sz="1600"/>
              <a:t>03  Existing Solutions</a:t>
            </a:r>
          </a:p>
          <a:p>
            <a:pPr/>
            <a:r>
              <a:rPr sz="1600"/>
              <a:t>04  Proposed Solution</a:t>
            </a:r>
          </a:p>
          <a:p>
            <a:pPr/>
            <a:r>
              <a:rPr sz="1600"/>
              <a:t>05  Methodology</a:t>
            </a:r>
          </a:p>
          <a:p>
            <a:pPr/>
            <a:r>
              <a:rPr sz="1600"/>
              <a:t>06  Requirements</a:t>
            </a:r>
          </a:p>
          <a:p>
            <a:pPr/>
            <a:r>
              <a:rPr sz="1600"/>
              <a:t>07  Architecture &amp; Design</a:t>
            </a:r>
          </a:p>
          <a:p>
            <a:pPr/>
            <a:r>
              <a:rPr sz="1600"/>
              <a:t>08  Application Demo</a:t>
            </a:r>
          </a:p>
          <a:p>
            <a:pPr/>
            <a:r>
              <a:rPr sz="1600"/>
              <a:t>09  Conclusion &amp; Perspectives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Host Company</a:t>
            </a:r>
          </a:p>
          <a:p>
            <a:r>
              <a:t>01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iMaxeam</a:t>
            </a:r>
          </a:p>
        </p:txBody>
      </p:sp>
      <p:sp>
        <p:nvSpPr>
          <p:cNvPr id="3" name="Content Placeholder 2"/>
          <p:cNvSpPr>
            <a:spLocks noGrp="1"/>
          </p:cNvSpPr>
          <p:nvPr>
            <p:ph idx="1"/>
          </p:nvPr>
        </p:nvSpPr>
        <p:spPr/>
        <p:txBody>
          <a:bodyPr/>
          <a:lstStyle/>
          <a:p>
            <a:pPr/>
            <a:r>
              <a:rPr sz="2000"/>
              <a:t>IBM Gold Business Partner — Enterprise Asset Management</a:t>
            </a:r>
          </a:p>
          <a:p>
            <a:pPr/>
            <a:r>
              <a:rPr sz="2000"/>
              <a:t>Software publishing, consulting &amp; IT services</a:t>
            </a:r>
          </a:p>
          <a:p>
            <a:pPr/>
            <a:r>
              <a:rPr sz="2000"/>
              <a:t>Global expertise in IBM Maximo integrations</a:t>
            </a:r>
          </a:p>
          <a:p>
            <a:pPr/>
            <a:r>
              <a:rPr sz="2000"/>
              <a:t>Sousse, Tunisia — imaxeam.com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Context &amp; Problem</a:t>
            </a:r>
          </a:p>
          <a:p>
            <a:r>
              <a:t>02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Martin Fowler</a:t>
            </a:r>
          </a:p>
        </p:txBody>
      </p:sp>
      <p:sp>
        <p:nvSpPr>
          <p:cNvPr id="3" name="Content Placeholder 2"/>
          <p:cNvSpPr>
            <a:spLocks noGrp="1"/>
          </p:cNvSpPr>
          <p:nvPr>
            <p:ph idx="1"/>
          </p:nvPr>
        </p:nvSpPr>
        <p:spPr/>
        <p:txBody>
          <a:bodyPr/>
          <a:lstStyle/>
          <a:p>
            <a:pPr/>
            <a:r>
              <a:rPr sz="2000"/>
              <a:t>"Any fool can write code</a:t>
            </a:r>
          </a:p>
          <a:p>
            <a:pPr/>
            <a:r>
              <a:rPr sz="2000"/>
              <a:t>that a computer can understand.</a:t>
            </a:r>
          </a:p>
          <a:p>
            <a:pPr/>
            <a:r>
              <a:rPr sz="2000"/>
              <a:t>Good programmers write code</a:t>
            </a:r>
          </a:p>
          <a:p>
            <a:pPr/>
            <a:r>
              <a:rPr sz="2000"/>
              <a:t>that humans can understand."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Challenges in Code Review</a:t>
            </a:r>
          </a:p>
        </p:txBody>
      </p:sp>
      <p:sp>
        <p:nvSpPr>
          <p:cNvPr id="3" name="Content Placeholder 2"/>
          <p:cNvSpPr>
            <a:spLocks noGrp="1"/>
          </p:cNvSpPr>
          <p:nvPr>
            <p:ph idx="1"/>
          </p:nvPr>
        </p:nvSpPr>
        <p:spPr/>
        <p:txBody>
          <a:bodyPr/>
          <a:lstStyle/>
          <a:p>
            <a:pPr/>
            <a:r>
              <a:rPr sz="2000"/>
              <a:t>Engineering Resource Drain</a:t>
            </a:r>
          </a:p>
          <a:p>
            <a:pPr/>
            <a:r>
              <a:rPr sz="2000"/>
              <a:t>Cognitive Fatigue &amp; Human Error</a:t>
            </a:r>
          </a:p>
          <a:p>
            <a:pPr/>
            <a:r>
              <a:rPr sz="2000"/>
              <a:t>Lack of Standardization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Existing Solutions</a:t>
            </a:r>
          </a:p>
          <a:p>
            <a:r>
              <a:t>03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Existing Solutions</a:t>
            </a:r>
          </a:p>
        </p:txBody>
      </p:sp>
      <p:sp>
        <p:nvSpPr>
          <p:cNvPr id="3" name="Content Placeholder 2"/>
          <p:cNvSpPr>
            <a:spLocks noGrp="1"/>
          </p:cNvSpPr>
          <p:nvPr>
            <p:ph idx="1"/>
          </p:nvPr>
        </p:nvSpPr>
        <p:spPr/>
        <p:txBody>
          <a:bodyPr/>
          <a:lstStyle/>
          <a:p>
            <a:pPr/>
            <a:r>
              <a:rPr sz="1600"/>
              <a:t>Solution          Pros                    Cons</a:t>
            </a:r>
          </a:p>
          <a:p>
            <a:pPr/>
            <a:r>
              <a:rPr sz="1600"/>
              <a:t>SonarQube         Deterministic, fast     No semantic awareness</a:t>
            </a:r>
          </a:p>
          <a:p>
            <a:pPr/>
            <a:r>
              <a:rPr sz="1600"/>
              <a:t>                  Rule-based              High false positives</a:t>
            </a:r>
          </a:p>
          <a:p>
            <a:pPr/>
          </a:p>
          <a:p>
            <a:pPr/>
            <a:r>
              <a:rPr sz="1600"/>
              <a:t>CodeRabbit        Context-aware AI        Closed-source SaaS</a:t>
            </a:r>
          </a:p>
          <a:p>
            <a:pPr/>
            <a:r>
              <a:rPr sz="1600"/>
              <a:t>                  Conversational PR       No granular AST control</a:t>
            </a:r>
          </a:p>
          <a:p>
            <a:pPr/>
            <a:r>
              <a:rPr sz="1600"/>
              <a:t>                  reviews                 Data privacy concerns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Gap</a:t>
            </a:r>
          </a:p>
        </p:txBody>
      </p:sp>
      <p:sp>
        <p:nvSpPr>
          <p:cNvPr id="3" name="Content Placeholder 2"/>
          <p:cNvSpPr>
            <a:spLocks noGrp="1"/>
          </p:cNvSpPr>
          <p:nvPr>
            <p:ph idx="1"/>
          </p:nvPr>
        </p:nvSpPr>
        <p:spPr/>
        <p:txBody>
          <a:bodyPr/>
          <a:lstStyle/>
          <a:p>
            <a:pPr/>
            <a:r>
              <a:rPr sz="2000"/>
              <a:t>SonarQube → Rigid structure, no context</a:t>
            </a:r>
          </a:p>
          <a:p>
            <a:pPr/>
            <a:r>
              <a:rPr sz="2000"/>
              <a:t>CodeRabbit → Flexible context, no control</a:t>
            </a:r>
          </a:p>
          <a:p>
            <a:pPr/>
          </a:p>
          <a:p>
            <a:pPr/>
            <a:r>
              <a:rPr sz="2000"/>
              <a:t>Our platform → Hybrid AST + LLM + Dashboard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Proposed Solution</a:t>
            </a:r>
          </a:p>
          <a:p>
            <a:r>
              <a:t>04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AI-Assisted PR Review Platform</a:t>
            </a:r>
          </a:p>
        </p:txBody>
      </p:sp>
      <p:sp>
        <p:nvSpPr>
          <p:cNvPr id="3" name="Content Placeholder 2"/>
          <p:cNvSpPr>
            <a:spLocks noGrp="1"/>
          </p:cNvSpPr>
          <p:nvPr>
            <p:ph idx="1"/>
          </p:nvPr>
        </p:nvSpPr>
        <p:spPr/>
        <p:txBody>
          <a:bodyPr/>
          <a:lstStyle/>
          <a:p>
            <a:pPr/>
            <a:r>
              <a:rPr sz="2000"/>
              <a:t>Event-driven GitHub webhook integration</a:t>
            </a:r>
          </a:p>
          <a:p>
            <a:pPr/>
            <a:r>
              <a:rPr sz="2000"/>
              <a:t>Hybrid AST + LLM code analysis</a:t>
            </a:r>
          </a:p>
          <a:p>
            <a:pPr/>
            <a:r>
              <a:rPr sz="2000"/>
              <a:t>Centralized admin dashboard</a:t>
            </a:r>
          </a:p>
          <a:p>
            <a:pPr/>
            <a:r>
              <a:rPr sz="2000"/>
              <a:t>Persistent findings &amp; real-time updates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Strengths</a:t>
            </a:r>
          </a:p>
        </p:txBody>
      </p:sp>
      <p:sp>
        <p:nvSpPr>
          <p:cNvPr id="3" name="Content Placeholder 2"/>
          <p:cNvSpPr>
            <a:spLocks noGrp="1"/>
          </p:cNvSpPr>
          <p:nvPr>
            <p:ph idx="1"/>
          </p:nvPr>
        </p:nvSpPr>
        <p:spPr/>
        <p:txBody>
          <a:bodyPr/>
          <a:lstStyle/>
          <a:p>
            <a:pPr/>
            <a:r>
              <a:rPr sz="2000"/>
              <a:t>01  Hybrid Analysis — AST + LLM</a:t>
            </a:r>
          </a:p>
          <a:p>
            <a:pPr/>
            <a:r>
              <a:rPr sz="2000"/>
              <a:t>02  Per-Repo Configuration</a:t>
            </a:r>
          </a:p>
          <a:p>
            <a:pPr/>
            <a:r>
              <a:rPr sz="2000"/>
              <a:t>03  GitHub-Native Integration</a:t>
            </a:r>
          </a:p>
          <a:p>
            <a:pPr/>
            <a:r>
              <a:rPr sz="2000"/>
              <a:t>04  Real-Time Dashboard (SSE)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Platform in Numbers</a:t>
            </a:r>
          </a:p>
        </p:txBody>
      </p:sp>
      <p:sp>
        <p:nvSpPr>
          <p:cNvPr id="3" name="Content Placeholder 2"/>
          <p:cNvSpPr>
            <a:spLocks noGrp="1"/>
          </p:cNvSpPr>
          <p:nvPr>
            <p:ph idx="1"/>
          </p:nvPr>
        </p:nvSpPr>
        <p:spPr/>
        <p:txBody>
          <a:bodyPr/>
          <a:lstStyle/>
          <a:p>
            <a:pPr/>
            <a:r>
              <a:rPr sz="2000"/>
              <a:t>5  MongoDB collections</a:t>
            </a:r>
          </a:p>
          <a:p>
            <a:pPr/>
            <a:r>
              <a:rPr sz="2000"/>
              <a:t>7  Dashboard panels</a:t>
            </a:r>
          </a:p>
          <a:p>
            <a:pPr/>
            <a:r>
              <a:rPr sz="2000"/>
              <a:t>4  Agile Scrum sprints</a:t>
            </a:r>
          </a:p>
          <a:p>
            <a:pPr/>
            <a:r>
              <a:rPr sz="2000"/>
              <a:t>1.48s  Mean pipeline latency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Methodology</a:t>
            </a:r>
          </a:p>
          <a:p>
            <a:r>
              <a:t>05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Agile Scrum</a:t>
            </a:r>
          </a:p>
        </p:txBody>
      </p:sp>
      <p:sp>
        <p:nvSpPr>
          <p:cNvPr id="3" name="Content Placeholder 2"/>
          <p:cNvSpPr>
            <a:spLocks noGrp="1"/>
          </p:cNvSpPr>
          <p:nvPr>
            <p:ph idx="1"/>
          </p:nvPr>
        </p:nvSpPr>
        <p:spPr/>
        <p:txBody>
          <a:bodyPr/>
          <a:lstStyle/>
          <a:p>
            <a:pPr/>
            <a:r>
              <a:rPr sz="2000"/>
              <a:t>Framework: Agile Scrum</a:t>
            </a:r>
          </a:p>
          <a:p>
            <a:pPr/>
            <a:r>
              <a:rPr sz="2000"/>
              <a:t>Why Scrum: Evolving AI + GitHub components</a:t>
            </a:r>
          </a:p>
          <a:p>
            <a:pPr/>
            <a:r>
              <a:rPr sz="2000"/>
              <a:t>Process: Sprint planning → Build → Review</a:t>
            </a:r>
          </a:p>
          <a:p>
            <a:pPr/>
            <a:r>
              <a:rPr sz="2000"/>
              <a:t>Benefit: Incremental delivery &amp; early refinement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Requirements</a:t>
            </a:r>
          </a:p>
          <a:p>
            <a:r>
              <a:t>06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Identification of Actors</a:t>
            </a:r>
          </a:p>
        </p:txBody>
      </p:sp>
      <p:sp>
        <p:nvSpPr>
          <p:cNvPr id="3" name="Content Placeholder 2"/>
          <p:cNvSpPr>
            <a:spLocks noGrp="1"/>
          </p:cNvSpPr>
          <p:nvPr>
            <p:ph idx="1"/>
          </p:nvPr>
        </p:nvSpPr>
        <p:spPr/>
        <p:txBody>
          <a:bodyPr/>
          <a:lstStyle/>
          <a:p>
            <a:pPr/>
            <a:r>
              <a:rPr sz="2000"/>
              <a:t>Developer — Configures repos, opens PRs</a:t>
            </a:r>
          </a:p>
          <a:p>
            <a:pPr/>
            <a:r>
              <a:rPr sz="2000"/>
              <a:t>GitHub — Webhooks, OAuth, REST API</a:t>
            </a:r>
          </a:p>
          <a:p>
            <a:pPr/>
            <a:r>
              <a:rPr sz="2000"/>
              <a:t>Google Gemini — Semantic code analysis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Functional Requirements</a:t>
            </a:r>
          </a:p>
        </p:txBody>
      </p:sp>
      <p:sp>
        <p:nvSpPr>
          <p:cNvPr id="3" name="Content Placeholder 2"/>
          <p:cNvSpPr>
            <a:spLocks noGrp="1"/>
          </p:cNvSpPr>
          <p:nvPr>
            <p:ph idx="1"/>
          </p:nvPr>
        </p:nvSpPr>
        <p:spPr/>
        <p:txBody>
          <a:bodyPr/>
          <a:lstStyle/>
          <a:p>
            <a:pPr/>
            <a:r>
              <a:rPr sz="1600"/>
              <a:t>GitHub OAuth authentication</a:t>
            </a:r>
          </a:p>
          <a:p>
            <a:pPr/>
            <a:r>
              <a:rPr sz="1600"/>
              <a:t>Installation &amp; repo configuration CRUD</a:t>
            </a:r>
          </a:p>
          <a:p>
            <a:pPr/>
            <a:r>
              <a:rPr sz="1600"/>
              <a:t>Webhook-driven automated PR review</a:t>
            </a:r>
          </a:p>
          <a:p>
            <a:pPr/>
            <a:r>
              <a:rPr sz="1600"/>
              <a:t>Findings persistence &amp; dashboard API</a:t>
            </a:r>
          </a:p>
          <a:p>
            <a:pPr/>
            <a:r>
              <a:rPr sz="1600"/>
              <a:t>SSE live updates &amp; API key management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Non-Functional Requirements</a:t>
            </a:r>
          </a:p>
        </p:txBody>
      </p:sp>
      <p:sp>
        <p:nvSpPr>
          <p:cNvPr id="3" name="Content Placeholder 2"/>
          <p:cNvSpPr>
            <a:spLocks noGrp="1"/>
          </p:cNvSpPr>
          <p:nvPr>
            <p:ph idx="1"/>
          </p:nvPr>
        </p:nvSpPr>
        <p:spPr/>
        <p:txBody>
          <a:bodyPr/>
          <a:lstStyle/>
          <a:p>
            <a:pPr/>
            <a:r>
              <a:rPr sz="2000"/>
              <a:t>Security — HMAC, JWT, bcrypt, CORS</a:t>
            </a:r>
          </a:p>
          <a:p>
            <a:pPr/>
            <a:r>
              <a:rPr sz="2000"/>
              <a:t>Performance — Diff segmentation, retries</a:t>
            </a:r>
          </a:p>
          <a:p>
            <a:pPr/>
            <a:r>
              <a:rPr sz="2000"/>
              <a:t>Reliability — Early webhook ack, dedupe</a:t>
            </a:r>
          </a:p>
          <a:p>
            <a:pPr/>
            <a:r>
              <a:rPr sz="2000"/>
              <a:t>Usability — Responsive dashboard, SSE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Architecture &amp; Design</a:t>
            </a:r>
          </a:p>
          <a:p>
            <a:r>
              <a:t>07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General System Architecture</a:t>
            </a:r>
          </a:p>
        </p:txBody>
      </p:sp>
      <p:sp>
        <p:nvSpPr>
          <p:cNvPr id="3" name="Content Placeholder 2"/>
          <p:cNvSpPr>
            <a:spLocks noGrp="1"/>
          </p:cNvSpPr>
          <p:nvPr>
            <p:ph idx="1"/>
          </p:nvPr>
        </p:nvSpPr>
        <p:spPr/>
        <p:txBody>
          <a:bodyPr/>
          <a:lstStyle/>
          <a:p>
            <a:pPr/>
            <a:r>
              <a:rPr sz="2000"/>
              <a:t>[Insert Figure 3.11 — High-level architecture]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Class Diagram</a:t>
            </a:r>
          </a:p>
        </p:txBody>
      </p:sp>
      <p:sp>
        <p:nvSpPr>
          <p:cNvPr id="3" name="Content Placeholder 2"/>
          <p:cNvSpPr>
            <a:spLocks noGrp="1"/>
          </p:cNvSpPr>
          <p:nvPr>
            <p:ph idx="1"/>
          </p:nvPr>
        </p:nvSpPr>
        <p:spPr/>
        <p:txBody>
          <a:bodyPr/>
          <a:lstStyle/>
          <a:p>
            <a:pPr/>
            <a:r>
              <a:rPr sz="2000"/>
              <a:t>[Insert Figure 3.2 — Class diagram]</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Webhook Review Sequence</a:t>
            </a:r>
          </a:p>
        </p:txBody>
      </p:sp>
      <p:sp>
        <p:nvSpPr>
          <p:cNvPr id="3" name="Content Placeholder 2"/>
          <p:cNvSpPr>
            <a:spLocks noGrp="1"/>
          </p:cNvSpPr>
          <p:nvPr>
            <p:ph idx="1"/>
          </p:nvPr>
        </p:nvSpPr>
        <p:spPr/>
        <p:txBody>
          <a:bodyPr/>
          <a:lstStyle/>
          <a:p>
            <a:pPr/>
            <a:r>
              <a:rPr sz="2000"/>
              <a:t>[Insert Figure 4.4 — Webhook to AI sequence]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Technology Stack</a:t>
            </a:r>
          </a:p>
        </p:txBody>
      </p:sp>
      <p:sp>
        <p:nvSpPr>
          <p:cNvPr id="3" name="Content Placeholder 2"/>
          <p:cNvSpPr>
            <a:spLocks noGrp="1"/>
          </p:cNvSpPr>
          <p:nvPr>
            <p:ph idx="1"/>
          </p:nvPr>
        </p:nvSpPr>
        <p:spPr/>
        <p:txBody>
          <a:bodyPr/>
          <a:lstStyle/>
          <a:p>
            <a:pPr/>
            <a:r>
              <a:rPr sz="1600"/>
              <a:t>Frontend — React 19, Vite, Tailwind CSS</a:t>
            </a:r>
          </a:p>
          <a:p>
            <a:pPr/>
            <a:r>
              <a:rPr sz="1600"/>
              <a:t>Backend — Node.js 22, Express 5, TypeScript</a:t>
            </a:r>
          </a:p>
          <a:p>
            <a:pPr/>
            <a:r>
              <a:rPr sz="1600"/>
              <a:t>Database — MongoDB Atlas, Mongoose</a:t>
            </a:r>
          </a:p>
          <a:p>
            <a:pPr/>
            <a:r>
              <a:rPr sz="1600"/>
              <a:t>AI — Google Gemini SDK</a:t>
            </a:r>
          </a:p>
          <a:p>
            <a:pPr/>
            <a:r>
              <a:rPr sz="1600"/>
              <a:t>DevOps — Railway, Vercel, Docker, Git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Hybrid Analysis Pipeline</a:t>
            </a:r>
          </a:p>
        </p:txBody>
      </p:sp>
      <p:sp>
        <p:nvSpPr>
          <p:cNvPr id="3" name="Content Placeholder 2"/>
          <p:cNvSpPr>
            <a:spLocks noGrp="1"/>
          </p:cNvSpPr>
          <p:nvPr>
            <p:ph idx="1"/>
          </p:nvPr>
        </p:nvSpPr>
        <p:spPr/>
        <p:txBody>
          <a:bodyPr/>
          <a:lstStyle/>
          <a:p>
            <a:pPr/>
            <a:r>
              <a:rPr sz="1600"/>
              <a:t>1. Webhook ingress &amp; validation</a:t>
            </a:r>
          </a:p>
          <a:p>
            <a:pPr/>
            <a:r>
              <a:rPr sz="1600"/>
              <a:t>2. Diff fetch, filter &amp; segment</a:t>
            </a:r>
          </a:p>
          <a:p>
            <a:pPr/>
            <a:r>
              <a:rPr sz="1600"/>
              <a:t>3. ast-grep structural check</a:t>
            </a:r>
          </a:p>
          <a:p>
            <a:pPr/>
            <a:r>
              <a:rPr sz="1600"/>
              <a:t>4. Gemini semantic analysis</a:t>
            </a:r>
          </a:p>
          <a:p>
            <a:pPr/>
            <a:r>
              <a:rPr sz="1600"/>
              <a:t>5. Enforcer parse &amp; persist</a:t>
            </a:r>
          </a:p>
          <a:p>
            <a:pPr/>
            <a:r>
              <a:rPr sz="1600"/>
              <a:t>6. GitHub review publication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Security Measures</a:t>
            </a:r>
          </a:p>
        </p:txBody>
      </p:sp>
      <p:sp>
        <p:nvSpPr>
          <p:cNvPr id="3" name="Content Placeholder 2"/>
          <p:cNvSpPr>
            <a:spLocks noGrp="1"/>
          </p:cNvSpPr>
          <p:nvPr>
            <p:ph idx="1"/>
          </p:nvPr>
        </p:nvSpPr>
        <p:spPr/>
        <p:txBody>
          <a:bodyPr/>
          <a:lstStyle/>
          <a:p>
            <a:pPr/>
            <a:r>
              <a:rPr sz="2000"/>
              <a:t>HMAC-SHA256 webhook verification</a:t>
            </a:r>
          </a:p>
          <a:p>
            <a:pPr/>
            <a:r>
              <a:rPr sz="2000"/>
              <a:t>Short-lived installation tokens (60 min)</a:t>
            </a:r>
          </a:p>
          <a:p>
            <a:pPr/>
            <a:r>
              <a:rPr sz="2000"/>
              <a:t>bcrypt API key hashing (cost 12)</a:t>
            </a:r>
          </a:p>
          <a:p>
            <a:pPr/>
            <a:r>
              <a:rPr sz="2000"/>
              <a:t>RSA private key in volatile memory only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Application Demo</a:t>
            </a:r>
          </a:p>
          <a:p>
            <a:r>
              <a:t>08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Application Demo — Login &amp; GitHub Setup</a:t>
            </a:r>
          </a:p>
        </p:txBody>
      </p:sp>
      <p:sp>
        <p:nvSpPr>
          <p:cNvPr id="3" name="Content Placeholder 2"/>
          <p:cNvSpPr>
            <a:spLocks noGrp="1"/>
          </p:cNvSpPr>
          <p:nvPr>
            <p:ph idx="1"/>
          </p:nvPr>
        </p:nvSpPr>
        <p:spPr/>
        <p:txBody>
          <a:bodyPr/>
          <a:lstStyle/>
          <a:p>
            <a:pPr/>
            <a:r>
              <a:rPr sz="2000"/>
              <a:t>[Insert screenshot — GitHub OAuth &amp; App install]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Application Demo — Review Flow</a:t>
            </a:r>
          </a:p>
        </p:txBody>
      </p:sp>
      <p:sp>
        <p:nvSpPr>
          <p:cNvPr id="3" name="Content Placeholder 2"/>
          <p:cNvSpPr>
            <a:spLocks noGrp="1"/>
          </p:cNvSpPr>
          <p:nvPr>
            <p:ph idx="1"/>
          </p:nvPr>
        </p:nvSpPr>
        <p:spPr/>
        <p:txBody>
          <a:bodyPr/>
          <a:lstStyle/>
          <a:p>
            <a:pPr/>
            <a:r>
              <a:rPr sz="2000"/>
              <a:t>[Insert screenshot — Findings panel &amp; PR review]</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Deployment Architecture</a:t>
            </a:r>
          </a:p>
        </p:txBody>
      </p:sp>
      <p:sp>
        <p:nvSpPr>
          <p:cNvPr id="3" name="Content Placeholder 2"/>
          <p:cNvSpPr>
            <a:spLocks noGrp="1"/>
          </p:cNvSpPr>
          <p:nvPr>
            <p:ph idx="1"/>
          </p:nvPr>
        </p:nvSpPr>
        <p:spPr/>
        <p:txBody>
          <a:bodyPr/>
          <a:lstStyle/>
          <a:p>
            <a:pPr/>
            <a:r>
              <a:rPr sz="2000"/>
              <a:t>Frontend → Vercel (CDN, static SPA)</a:t>
            </a:r>
          </a:p>
          <a:p>
            <a:pPr/>
            <a:r>
              <a:rPr sz="2000"/>
              <a:t>Backend → Railway (Docker, always-on)</a:t>
            </a:r>
          </a:p>
          <a:p>
            <a:pPr/>
            <a:r>
              <a:rPr sz="2000"/>
              <a:t>Database → MongoDB Atlas (cloud)</a:t>
            </a:r>
          </a:p>
          <a:p>
            <a:pPr/>
            <a:r>
              <a:rPr sz="2000"/>
              <a:t>CI/CD → Auto-deploy on main push</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 &amp; Perspectives</a:t>
            </a:r>
          </a:p>
          <a:p>
            <a:r>
              <a:t>09</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pPr/>
            <a:r>
              <a:rPr sz="2000"/>
              <a:t>Problem — Manual review bottlenecks CI/CD</a:t>
            </a:r>
          </a:p>
          <a:p>
            <a:pPr/>
            <a:r>
              <a:rPr sz="2000"/>
              <a:t>Solution — Hybrid AST + LLM platform</a:t>
            </a:r>
          </a:p>
          <a:p>
            <a:pPr/>
            <a:r>
              <a:rPr sz="2000"/>
              <a:t>Delivered — Production-ready full-stack app</a:t>
            </a:r>
          </a:p>
          <a:p>
            <a:pPr/>
            <a:r>
              <a:rPr sz="2000"/>
              <a:t>Impact — Faster feedback, consistent standards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Perspectives</a:t>
            </a:r>
          </a:p>
        </p:txBody>
      </p:sp>
      <p:sp>
        <p:nvSpPr>
          <p:cNvPr id="3" name="Content Placeholder 2"/>
          <p:cNvSpPr>
            <a:spLocks noGrp="1"/>
          </p:cNvSpPr>
          <p:nvPr>
            <p:ph idx="1"/>
          </p:nvPr>
        </p:nvSpPr>
        <p:spPr/>
        <p:txBody>
          <a:bodyPr/>
          <a:lstStyle/>
          <a:p>
            <a:pPr/>
            <a:r>
              <a:rPr sz="2000"/>
              <a:t>Short-term — Message queue (Redis/RabbitMQ)</a:t>
            </a:r>
          </a:p>
          <a:p>
            <a:pPr/>
            <a:r>
              <a:rPr sz="2000"/>
              <a:t>Medium-term — Vector filtering, extended AST</a:t>
            </a:r>
          </a:p>
          <a:p>
            <a:pPr/>
            <a:r>
              <a:rPr sz="2000"/>
              <a:t>Long-term — Multi-model support, on-premise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Thank You!</a:t>
            </a:r>
          </a:p>
        </p:txBody>
      </p:sp>
      <p:sp>
        <p:nvSpPr>
          <p:cNvPr id="3" name="Content Placeholder 2"/>
          <p:cNvSpPr>
            <a:spLocks noGrp="1"/>
          </p:cNvSpPr>
          <p:nvPr>
            <p:ph idx="1"/>
          </p:nvPr>
        </p:nvSpPr>
        <p:spPr/>
        <p:txBody>
          <a:bodyPr/>
          <a:lstStyle/>
          <a:p>
            <a:pPr/>
            <a:r>
              <a:rPr sz="2000"/>
              <a:t>Do you have any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